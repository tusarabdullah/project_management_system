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Century Gothic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iWNfXMOFzfNQv5grKq2FmoCBBu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CenturyGothic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CenturyGothic-italic.fntdata"/><Relationship Id="rId23" Type="http://schemas.openxmlformats.org/officeDocument/2006/relationships/font" Target="fonts/CenturyGothic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CenturyGothic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ed4df68e5_5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1ed4df68e5_5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ed4df68e5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1ed4df68e5_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1ed4df68e5_5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1ed4df68e5_5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ed4df68e5_5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1ed4df68e5_5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1ed4df68e5_5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1ed4df68e5_5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ed4df68e5_5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1ed4df68e5_5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ed4df68e5_5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1ed4df68e5_5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ed4df68e5_5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1ed4df68e5_5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1ed4df68e5_5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0C"/>
            </a:gs>
          </a:gsLst>
          <a:lin ang="0" scaled="0"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914825" y="2660175"/>
            <a:ext cx="13563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PROJECT MANAGEMENT SYSTEM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9230025" y="4229100"/>
            <a:ext cx="6248400" cy="1828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Organize Projects</a:t>
            </a:r>
            <a:endParaRPr b="0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1914825" y="4229100"/>
            <a:ext cx="5372100" cy="18288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Track Progress</a:t>
            </a:r>
            <a:endParaRPr b="0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1914825" y="6477000"/>
            <a:ext cx="13563600" cy="1828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Stay on Schedule (Task, Meetings, Report)</a:t>
            </a:r>
            <a:endParaRPr b="0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1914825" y="708250"/>
            <a:ext cx="112164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Arial"/>
              <a:buNone/>
            </a:pPr>
            <a:r>
              <a:rPr b="1" i="0" lang="en-US" sz="67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/>
        </p:nvSpPr>
        <p:spPr>
          <a:xfrm rot="-5400000">
            <a:off x="-771864" y="4750738"/>
            <a:ext cx="61449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2"/>
              <a:buFont typeface="Arial"/>
              <a:buNone/>
            </a:pPr>
            <a:r>
              <a:rPr b="1" i="0" lang="en-US" sz="5102" u="none" cap="none" strike="noStrike">
                <a:solidFill>
                  <a:srgbClr val="DB6854"/>
                </a:solidFill>
                <a:latin typeface="Arial"/>
                <a:ea typeface="Arial"/>
                <a:cs typeface="Arial"/>
                <a:sym typeface="Arial"/>
              </a:rPr>
              <a:t> ER - 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2639" y="-50"/>
            <a:ext cx="14225372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ed4df68e5_5_0"/>
          <p:cNvSpPr txBox="1"/>
          <p:nvPr/>
        </p:nvSpPr>
        <p:spPr>
          <a:xfrm rot="-5400000">
            <a:off x="-1838664" y="4750738"/>
            <a:ext cx="61449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2"/>
              <a:buFont typeface="Arial"/>
              <a:buNone/>
            </a:pPr>
            <a:r>
              <a:rPr b="1" i="0" lang="en-US" sz="5102" u="none" cap="none" strike="noStrike">
                <a:solidFill>
                  <a:srgbClr val="DB6854"/>
                </a:solidFill>
                <a:latin typeface="Arial"/>
                <a:ea typeface="Arial"/>
                <a:cs typeface="Arial"/>
                <a:sym typeface="Arial"/>
              </a:rPr>
              <a:t>SCHEMA 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g31ed4df68e5_5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6060" y="152350"/>
            <a:ext cx="15725804" cy="99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0C"/>
            </a:gs>
          </a:gsLst>
          <a:lin ang="0" scaled="0"/>
        </a:gra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ed4df68e5_5_11"/>
          <p:cNvSpPr txBox="1"/>
          <p:nvPr/>
        </p:nvSpPr>
        <p:spPr>
          <a:xfrm>
            <a:off x="843375" y="687725"/>
            <a:ext cx="7344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sng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QUERY SAMPLE 01</a:t>
            </a:r>
            <a:endParaRPr b="0" i="0" sz="13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1ed4df68e5_5_11"/>
          <p:cNvSpPr txBox="1"/>
          <p:nvPr/>
        </p:nvSpPr>
        <p:spPr>
          <a:xfrm>
            <a:off x="843375" y="2001300"/>
            <a:ext cx="16957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Retrieve all tasks that are dependent on meetings occurring before their deadline:</a:t>
            </a:r>
            <a:endParaRPr b="0" i="0" sz="5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g31ed4df68e5_5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375" y="2822525"/>
            <a:ext cx="16957499" cy="1954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1ed4df68e5_5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375" y="5140575"/>
            <a:ext cx="8750300" cy="473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0C"/>
            </a:gs>
          </a:gsLst>
          <a:lin ang="0" scaled="0"/>
        </a:gra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ed4df68e5_5_25"/>
          <p:cNvSpPr txBox="1"/>
          <p:nvPr/>
        </p:nvSpPr>
        <p:spPr>
          <a:xfrm>
            <a:off x="843375" y="687725"/>
            <a:ext cx="834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sng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QUERY SAMPLE 02</a:t>
            </a:r>
            <a:endParaRPr b="0" i="0" sz="13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1ed4df68e5_5_25"/>
          <p:cNvSpPr txBox="1"/>
          <p:nvPr/>
        </p:nvSpPr>
        <p:spPr>
          <a:xfrm>
            <a:off x="843375" y="2001300"/>
            <a:ext cx="16957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2286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Get the total duration of meetings for each project:</a:t>
            </a:r>
            <a:endParaRPr b="0" i="0" sz="5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g31ed4df68e5_5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375" y="2822525"/>
            <a:ext cx="16969126" cy="206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1ed4df68e5_5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375" y="5213825"/>
            <a:ext cx="9612050" cy="461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0C"/>
            </a:gs>
          </a:gsLst>
          <a:lin ang="0" scaled="0"/>
        </a:gra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1054900" y="2385672"/>
            <a:ext cx="16204400" cy="2207850"/>
          </a:xfrm>
          <a:custGeom>
            <a:rect b="b" l="l" r="r" t="t"/>
            <a:pathLst>
              <a:path extrusionOk="0" h="2207850" w="16204400">
                <a:moveTo>
                  <a:pt x="0" y="0"/>
                </a:moveTo>
                <a:lnTo>
                  <a:pt x="16204400" y="0"/>
                </a:lnTo>
                <a:lnTo>
                  <a:pt x="16204400" y="2207849"/>
                </a:lnTo>
                <a:lnTo>
                  <a:pt x="0" y="2207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7" name="Google Shape;127;p5"/>
          <p:cNvGrpSpPr/>
          <p:nvPr/>
        </p:nvGrpSpPr>
        <p:grpSpPr>
          <a:xfrm>
            <a:off x="1054894" y="918075"/>
            <a:ext cx="16204356" cy="994353"/>
            <a:chOff x="1054900" y="918084"/>
            <a:chExt cx="7356922" cy="994353"/>
          </a:xfrm>
        </p:grpSpPr>
        <p:cxnSp>
          <p:nvCxnSpPr>
            <p:cNvPr id="128" name="Google Shape;128;p5"/>
            <p:cNvCxnSpPr/>
            <p:nvPr/>
          </p:nvCxnSpPr>
          <p:spPr>
            <a:xfrm>
              <a:off x="1054900" y="1912437"/>
              <a:ext cx="7356922" cy="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" name="Google Shape;129;p5"/>
            <p:cNvSpPr txBox="1"/>
            <p:nvPr/>
          </p:nvSpPr>
          <p:spPr>
            <a:xfrm>
              <a:off x="1054900" y="918084"/>
              <a:ext cx="6144900" cy="7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102"/>
                <a:buFont typeface="Arial"/>
                <a:buNone/>
              </a:pPr>
              <a:r>
                <a:rPr b="1" i="0" lang="en-US" sz="510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Relationship among PO, K, P and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0C"/>
            </a:gs>
          </a:gsLst>
          <a:lin ang="0" scaled="0"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Google Shape;134;g31ed4df68e5_5_39"/>
          <p:cNvCxnSpPr/>
          <p:nvPr/>
        </p:nvCxnSpPr>
        <p:spPr>
          <a:xfrm>
            <a:off x="1054894" y="1912428"/>
            <a:ext cx="119934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g31ed4df68e5_5_39"/>
          <p:cNvSpPr txBox="1"/>
          <p:nvPr/>
        </p:nvSpPr>
        <p:spPr>
          <a:xfrm>
            <a:off x="1054894" y="918075"/>
            <a:ext cx="13534757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2"/>
              <a:buFont typeface="Arial"/>
              <a:buNone/>
            </a:pPr>
            <a:r>
              <a:rPr b="1" i="0" lang="en-US" sz="51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 Outcomes (PO’s):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g31ed4df68e5_5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4900" y="2305049"/>
            <a:ext cx="11993325" cy="759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0C"/>
            </a:gs>
          </a:gsLst>
          <a:lin ang="0" scaled="0"/>
        </a:gra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oogle Shape;141;g31ed4df68e5_5_46"/>
          <p:cNvCxnSpPr/>
          <p:nvPr/>
        </p:nvCxnSpPr>
        <p:spPr>
          <a:xfrm>
            <a:off x="1054894" y="1912428"/>
            <a:ext cx="76461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g31ed4df68e5_5_46"/>
          <p:cNvSpPr txBox="1"/>
          <p:nvPr/>
        </p:nvSpPr>
        <p:spPr>
          <a:xfrm>
            <a:off x="1054894" y="918075"/>
            <a:ext cx="13534757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2"/>
              <a:buFont typeface="Arial"/>
              <a:buNone/>
            </a:pPr>
            <a:r>
              <a:rPr b="1" i="0" lang="en-US" sz="51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Knowledge Profile( K’s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g31ed4df68e5_5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4900" y="2121375"/>
            <a:ext cx="16466999" cy="775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0C"/>
            </a:gs>
          </a:gsLst>
          <a:lin ang="0" scaled="0"/>
        </a:gra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Google Shape;148;g31ed4df68e5_5_54"/>
          <p:cNvCxnSpPr/>
          <p:nvPr/>
        </p:nvCxnSpPr>
        <p:spPr>
          <a:xfrm>
            <a:off x="1054894" y="1912428"/>
            <a:ext cx="98442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g31ed4df68e5_5_54"/>
          <p:cNvSpPr txBox="1"/>
          <p:nvPr/>
        </p:nvSpPr>
        <p:spPr>
          <a:xfrm>
            <a:off x="1054894" y="918075"/>
            <a:ext cx="13534757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2"/>
              <a:buFont typeface="Arial"/>
              <a:buNone/>
            </a:pPr>
            <a:r>
              <a:rPr b="1" i="0" lang="en-US" sz="51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Engineering Problems (P’s)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g31ed4df68e5_5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4900" y="2271075"/>
            <a:ext cx="14938101" cy="7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0C"/>
            </a:gs>
          </a:gsLst>
          <a:lin ang="0" scaled="0"/>
        </a:gra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g31ed4df68e5_5_62"/>
          <p:cNvGrpSpPr/>
          <p:nvPr/>
        </p:nvGrpSpPr>
        <p:grpSpPr>
          <a:xfrm>
            <a:off x="1054894" y="918075"/>
            <a:ext cx="16204308" cy="994353"/>
            <a:chOff x="1054900" y="918084"/>
            <a:chExt cx="7356900" cy="994353"/>
          </a:xfrm>
        </p:grpSpPr>
        <p:cxnSp>
          <p:nvCxnSpPr>
            <p:cNvPr id="156" name="Google Shape;156;g31ed4df68e5_5_62"/>
            <p:cNvCxnSpPr/>
            <p:nvPr/>
          </p:nvCxnSpPr>
          <p:spPr>
            <a:xfrm>
              <a:off x="1054900" y="1912437"/>
              <a:ext cx="7356900" cy="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7" name="Google Shape;157;g31ed4df68e5_5_62"/>
            <p:cNvSpPr txBox="1"/>
            <p:nvPr/>
          </p:nvSpPr>
          <p:spPr>
            <a:xfrm>
              <a:off x="1054900" y="918084"/>
              <a:ext cx="6144900" cy="7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102"/>
                <a:buFont typeface="Arial"/>
                <a:buNone/>
              </a:pPr>
              <a:r>
                <a:rPr b="1" i="0" lang="en-US" sz="510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Complex Engineering Activities (As)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8" name="Google Shape;158;g31ed4df68e5_5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4900" y="2186922"/>
            <a:ext cx="15358675" cy="77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0C"/>
            </a:gs>
          </a:gsLst>
          <a:lin ang="0" scaled="0"/>
        </a:gra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6"/>
          <p:cNvGrpSpPr/>
          <p:nvPr/>
        </p:nvGrpSpPr>
        <p:grpSpPr>
          <a:xfrm>
            <a:off x="7046164" y="1747648"/>
            <a:ext cx="4195672" cy="6791704"/>
            <a:chOff x="0" y="0"/>
            <a:chExt cx="5594230" cy="9055605"/>
          </a:xfrm>
        </p:grpSpPr>
        <p:sp>
          <p:nvSpPr>
            <p:cNvPr id="164" name="Google Shape;164;p6"/>
            <p:cNvSpPr/>
            <p:nvPr/>
          </p:nvSpPr>
          <p:spPr>
            <a:xfrm>
              <a:off x="0" y="0"/>
              <a:ext cx="5265680" cy="8475944"/>
            </a:xfrm>
            <a:custGeom>
              <a:rect b="b" l="l" r="r" t="t"/>
              <a:pathLst>
                <a:path extrusionOk="0" h="8475944" w="5265680">
                  <a:moveTo>
                    <a:pt x="0" y="0"/>
                  </a:moveTo>
                  <a:lnTo>
                    <a:pt x="5265680" y="0"/>
                  </a:lnTo>
                  <a:lnTo>
                    <a:pt x="5265680" y="8475944"/>
                  </a:lnTo>
                  <a:lnTo>
                    <a:pt x="0" y="84759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5" name="Google Shape;165;p6"/>
            <p:cNvSpPr txBox="1"/>
            <p:nvPr/>
          </p:nvSpPr>
          <p:spPr>
            <a:xfrm>
              <a:off x="1085928" y="8131045"/>
              <a:ext cx="4508302" cy="924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00"/>
                <a:buFont typeface="Arial"/>
                <a:buNone/>
              </a:pPr>
              <a:r>
                <a:rPr b="0" i="0" lang="en-US" sz="42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THANK YOU !!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